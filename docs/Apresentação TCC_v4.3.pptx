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4" r:id="rId9"/>
    <p:sldId id="280" r:id="rId10"/>
    <p:sldId id="282" r:id="rId11"/>
    <p:sldId id="283" r:id="rId12"/>
    <p:sldId id="272" r:id="rId13"/>
    <p:sldId id="273" r:id="rId14"/>
    <p:sldId id="262" r:id="rId15"/>
    <p:sldId id="271" r:id="rId16"/>
    <p:sldId id="274" r:id="rId17"/>
    <p:sldId id="263" r:id="rId18"/>
    <p:sldId id="275" r:id="rId19"/>
    <p:sldId id="276" r:id="rId20"/>
    <p:sldId id="277" r:id="rId21"/>
    <p:sldId id="278" r:id="rId22"/>
    <p:sldId id="279" r:id="rId23"/>
    <p:sldId id="265" r:id="rId2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34553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22927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43387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62774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70632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57467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93605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40382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955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60808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4024207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27156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610225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26452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362295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53243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13/06/2014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5242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07704" y="1243437"/>
            <a:ext cx="5400600" cy="476671"/>
          </a:xfrm>
        </p:spPr>
        <p:txBody>
          <a:bodyPr>
            <a:normAutofit fontScale="90000"/>
          </a:bodyPr>
          <a:lstStyle/>
          <a:p>
            <a:pPr algn="just"/>
            <a:r>
              <a:rPr lang="pt-BR" sz="3200" b="1" dirty="0" smtClean="0"/>
              <a:t>Centro Universitário Carioca</a:t>
            </a:r>
            <a:endParaRPr lang="pt-BR" sz="3200" b="1" dirty="0"/>
          </a:p>
        </p:txBody>
      </p:sp>
      <p:sp>
        <p:nvSpPr>
          <p:cNvPr id="4" name="CaixaDeTexto 3"/>
          <p:cNvSpPr txBox="1"/>
          <p:nvPr/>
        </p:nvSpPr>
        <p:spPr>
          <a:xfrm>
            <a:off x="1110260" y="4294837"/>
            <a:ext cx="24336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b="1" dirty="0" smtClean="0"/>
              <a:t>Alunos:</a:t>
            </a:r>
          </a:p>
          <a:p>
            <a:pPr algn="just"/>
            <a:r>
              <a:rPr lang="pt-BR" dirty="0" smtClean="0"/>
              <a:t>Dênis Braga Tavares</a:t>
            </a:r>
          </a:p>
          <a:p>
            <a:pPr algn="just"/>
            <a:r>
              <a:rPr lang="pt-BR" dirty="0" smtClean="0"/>
              <a:t>Tiago Bani</a:t>
            </a:r>
          </a:p>
          <a:p>
            <a:pPr algn="just"/>
            <a:r>
              <a:rPr lang="pt-BR" dirty="0" smtClean="0"/>
              <a:t>Renato Tomaz </a:t>
            </a:r>
            <a:r>
              <a:rPr lang="pt-BR" dirty="0" err="1" smtClean="0"/>
              <a:t>Nati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1110260" y="5539646"/>
            <a:ext cx="2998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 smtClean="0"/>
              <a:t>Orientador:</a:t>
            </a:r>
          </a:p>
          <a:p>
            <a:pPr algn="just"/>
            <a:r>
              <a:rPr lang="pt-BR" dirty="0" smtClean="0"/>
              <a:t>Manuel Martins Filho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2110855" y="1693029"/>
            <a:ext cx="4629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2000" i="1" dirty="0" smtClean="0"/>
              <a:t>Mineração de Notícias Econômicas</a:t>
            </a:r>
            <a:endParaRPr lang="pt-BR" sz="2000" i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1110260" y="3645024"/>
            <a:ext cx="3052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b="1" dirty="0" smtClean="0"/>
              <a:t>Curso: </a:t>
            </a:r>
          </a:p>
          <a:p>
            <a:pPr algn="just"/>
            <a:r>
              <a:rPr lang="pt-BR" dirty="0" smtClean="0"/>
              <a:t>Ciência da Computação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b="1" dirty="0" smtClean="0"/>
              <a:t>Tema:</a:t>
            </a:r>
            <a:r>
              <a:rPr lang="pt-BR" dirty="0" smtClean="0"/>
              <a:t> Mineração de Notícias econômicas</a:t>
            </a:r>
          </a:p>
          <a:p>
            <a:pPr algn="just"/>
            <a:endParaRPr lang="pt-BR" dirty="0" smtClean="0"/>
          </a:p>
          <a:p>
            <a:pPr algn="just"/>
            <a:r>
              <a:rPr lang="pt-BR" b="1" dirty="0" smtClean="0"/>
              <a:t>Justificativa:</a:t>
            </a:r>
            <a:r>
              <a:rPr lang="pt-BR" dirty="0" smtClean="0"/>
              <a:t> Apoiar o investidor do mercado de divisas na tomada de decisão na hora do investimento.</a:t>
            </a:r>
          </a:p>
          <a:p>
            <a:pPr marL="0" indent="0" algn="just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pPr algn="just"/>
            <a:endParaRPr lang="pt-BR" dirty="0" smtClean="0"/>
          </a:p>
          <a:p>
            <a:pPr algn="just">
              <a:buNone/>
            </a:pPr>
            <a:endParaRPr lang="pt-BR" dirty="0" smtClean="0"/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b="1" dirty="0" smtClean="0"/>
              <a:t>Problemática:</a:t>
            </a:r>
            <a:r>
              <a:rPr lang="pt-BR" dirty="0" smtClean="0"/>
              <a:t> Um investidor do mercado de divisas ao tomar uma decisão de investimento precisa estar atualizado, se possível em tempo real, aos acontecimentos econômicos do mundo.  </a:t>
            </a:r>
          </a:p>
          <a:p>
            <a:pPr algn="just">
              <a:buNone/>
            </a:pPr>
            <a:endParaRPr lang="pt-BR" b="1" dirty="0" smtClean="0"/>
          </a:p>
          <a:p>
            <a:pPr algn="just"/>
            <a:r>
              <a:rPr lang="pt-BR" b="1" dirty="0" smtClean="0"/>
              <a:t>Objetivos:</a:t>
            </a:r>
            <a:r>
              <a:rPr lang="pt-BR" dirty="0" smtClean="0"/>
              <a:t> Propor uma automatização na coleta e análise de dados econômicos para apoiar a decisão de investimento utilizando inteligência artificial.</a:t>
            </a:r>
            <a:endParaRPr lang="pt-BR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pPr algn="just"/>
            <a:r>
              <a:rPr lang="pt-BR" dirty="0" smtClean="0"/>
              <a:t>Introdução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 smtClean="0"/>
              <a:t>Revisão de literatura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82499" y="1520277"/>
            <a:ext cx="6264696" cy="76944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pt-BR" sz="2000" b="1" u="sng" dirty="0" smtClean="0"/>
              <a:t>Conceitos, fundamentos e teorias utilizados na construção do trabalho</a:t>
            </a:r>
            <a:r>
              <a:rPr lang="pt-BR" sz="2000" b="1" u="sng" dirty="0"/>
              <a:t>:</a:t>
            </a:r>
            <a:endParaRPr lang="pt-BR" sz="1000" dirty="0" smtClean="0"/>
          </a:p>
          <a:p>
            <a:pPr algn="just"/>
            <a:endParaRPr lang="pt-BR" sz="1800" dirty="0" smtClean="0"/>
          </a:p>
          <a:p>
            <a:pPr algn="just">
              <a:buFont typeface="+mj-lt"/>
              <a:buAutoNum type="alphaLcPeriod"/>
            </a:pPr>
            <a:endParaRPr lang="pt-BR" sz="1400" dirty="0" smtClean="0"/>
          </a:p>
          <a:p>
            <a:pPr algn="just">
              <a:buNone/>
            </a:pPr>
            <a:endParaRPr lang="pt-BR" sz="14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16016" y="2393775"/>
            <a:ext cx="4019553" cy="3312368"/>
          </a:xfrm>
          <a:prstGeom prst="rect">
            <a:avLst/>
          </a:prstGeom>
        </p:spPr>
      </p:pic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755577" y="2420888"/>
            <a:ext cx="3744415" cy="3312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b="1" dirty="0" smtClean="0"/>
              <a:t>Fundamentos econômicos 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pt-BR" dirty="0" smtClean="0"/>
              <a:t>Propagação da informação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pt-BR" dirty="0" smtClean="0"/>
              <a:t>Mercado de Divisas (</a:t>
            </a:r>
            <a:r>
              <a:rPr lang="pt-BR" dirty="0" err="1" smtClean="0"/>
              <a:t>Foreign</a:t>
            </a:r>
            <a:r>
              <a:rPr lang="pt-BR" dirty="0" smtClean="0"/>
              <a:t> Exchange)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pt-BR" dirty="0" smtClean="0"/>
              <a:t>Indicadores econômicos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pt-BR" dirty="0" smtClean="0"/>
              <a:t>Teoria do prospecto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pt-BR" dirty="0" smtClean="0"/>
              <a:t>Viés da ancoragem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pt-BR" dirty="0" smtClean="0"/>
              <a:t>Viés da representatividade</a:t>
            </a:r>
            <a:endParaRPr lang="pt-BR" sz="1000" dirty="0" smtClean="0"/>
          </a:p>
          <a:p>
            <a:pPr algn="just"/>
            <a:endParaRPr lang="pt-BR" dirty="0" smtClean="0"/>
          </a:p>
          <a:p>
            <a:pPr algn="just">
              <a:buFont typeface="+mj-lt"/>
              <a:buAutoNum type="alphaLcPeriod"/>
            </a:pPr>
            <a:endParaRPr lang="pt-BR" sz="1400" dirty="0" smtClean="0"/>
          </a:p>
          <a:p>
            <a:pPr algn="just">
              <a:buFont typeface="Wingdings 3" charset="2"/>
              <a:buNone/>
            </a:pPr>
            <a:endParaRPr lang="pt-BR" sz="14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 smtClean="0"/>
              <a:t>Revisão de literatura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07704" y="1700808"/>
            <a:ext cx="6591985" cy="3777622"/>
          </a:xfrm>
        </p:spPr>
        <p:txBody>
          <a:bodyPr>
            <a:normAutofit fontScale="85000" lnSpcReduction="20000"/>
          </a:bodyPr>
          <a:lstStyle/>
          <a:p>
            <a:pPr algn="just"/>
            <a:endParaRPr lang="pt-BR" sz="1800" b="1" dirty="0" smtClean="0"/>
          </a:p>
          <a:p>
            <a:pPr algn="just"/>
            <a:r>
              <a:rPr lang="pt-BR" sz="2900" b="1" dirty="0" smtClean="0"/>
              <a:t>Fundamentos matemáticos e estatísticos</a:t>
            </a:r>
          </a:p>
          <a:p>
            <a:pPr algn="just">
              <a:buFont typeface="+mj-lt"/>
              <a:buAutoNum type="alphaLcPeriod"/>
            </a:pPr>
            <a:r>
              <a:rPr lang="pt-BR" sz="2600" dirty="0" smtClean="0"/>
              <a:t>Processos estocásticos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pt-BR" sz="2400" dirty="0" smtClean="0"/>
              <a:t>Processos Markovianos</a:t>
            </a:r>
          </a:p>
          <a:p>
            <a:pPr algn="just"/>
            <a:endParaRPr lang="pt-BR" sz="2900" b="1" dirty="0" smtClean="0"/>
          </a:p>
          <a:p>
            <a:pPr algn="just"/>
            <a:r>
              <a:rPr lang="pt-BR" sz="2900" b="1" dirty="0" smtClean="0"/>
              <a:t>Fundamentos em inteligência artificial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pt-BR" sz="2600" dirty="0" smtClean="0"/>
              <a:t> Mineração de texto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pt-BR" sz="2600" dirty="0" smtClean="0"/>
              <a:t>Ferramentas de Processamento de Linguagem Natural</a:t>
            </a:r>
            <a:endParaRPr lang="pt-BR" sz="2400" b="1" dirty="0" smtClean="0"/>
          </a:p>
          <a:p>
            <a:pPr marL="457200" indent="-457200" algn="just">
              <a:buNone/>
            </a:pPr>
            <a:endParaRPr lang="pt-BR" sz="2400" dirty="0" smtClean="0"/>
          </a:p>
          <a:p>
            <a:pPr marL="457200" indent="-457200" algn="just">
              <a:buFont typeface="+mj-lt"/>
              <a:buAutoNum type="alphaLcPeriod"/>
            </a:pPr>
            <a:endParaRPr lang="pt-BR" sz="2400" dirty="0" smtClean="0"/>
          </a:p>
          <a:p>
            <a:pPr marL="457200" indent="-457200" algn="just">
              <a:buFont typeface="+mj-lt"/>
              <a:buAutoNum type="alphaLcPeriod"/>
            </a:pPr>
            <a:endParaRPr lang="pt-BR" sz="2400" b="1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 smtClean="0"/>
              <a:t>Revisão de literatura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900" b="1" dirty="0" smtClean="0"/>
              <a:t>Conceitos de neuroeconomia e neurociência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pt-BR" sz="2400" dirty="0" smtClean="0"/>
              <a:t> </a:t>
            </a:r>
            <a:r>
              <a:rPr lang="pt-BR" sz="2600" dirty="0" smtClean="0"/>
              <a:t>Emoções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pt-BR" sz="2300" dirty="0" smtClean="0"/>
              <a:t>Polarização das emoções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pt-BR" sz="2300" dirty="0" smtClean="0"/>
              <a:t>Medo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pt-BR" sz="2600" dirty="0" smtClean="0"/>
              <a:t>Atenção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pt-BR" sz="2600" dirty="0" smtClean="0"/>
              <a:t>Memória</a:t>
            </a:r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 smtClean="0"/>
              <a:t>Metodologia</a:t>
            </a:r>
            <a:endParaRPr lang="pt-BR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1691680" y="2852936"/>
            <a:ext cx="6591985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 smtClean="0"/>
              <a:t>Foi </a:t>
            </a:r>
            <a:r>
              <a:rPr lang="pt-BR" dirty="0"/>
              <a:t>feito um processo automático de busca direcionada para selecionar os principais jornais e sites econômicos através de um serviço web especializado em </a:t>
            </a:r>
            <a:r>
              <a:rPr lang="pt-BR" dirty="0" smtClean="0"/>
              <a:t>ranking </a:t>
            </a:r>
            <a:r>
              <a:rPr lang="pt-BR" dirty="0"/>
              <a:t>de sites conforme sua popularidade.</a:t>
            </a:r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Metodologia</a:t>
            </a:r>
            <a:endParaRPr lang="pt-BR" dirty="0"/>
          </a:p>
        </p:txBody>
      </p:sp>
      <p:sp>
        <p:nvSpPr>
          <p:cNvPr id="6" name="Seta para baixo 5"/>
          <p:cNvSpPr/>
          <p:nvPr/>
        </p:nvSpPr>
        <p:spPr>
          <a:xfrm>
            <a:off x="2771800" y="1916832"/>
            <a:ext cx="144016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Fluxograma: Disco magnético 6"/>
          <p:cNvSpPr/>
          <p:nvPr/>
        </p:nvSpPr>
        <p:spPr>
          <a:xfrm>
            <a:off x="4126097" y="1985917"/>
            <a:ext cx="144016" cy="360040"/>
          </a:xfrm>
          <a:prstGeom prst="flowChartMagneticDisk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luxograma: Disco magnético 7"/>
          <p:cNvSpPr/>
          <p:nvPr/>
        </p:nvSpPr>
        <p:spPr>
          <a:xfrm>
            <a:off x="4342121" y="1985917"/>
            <a:ext cx="144016" cy="360040"/>
          </a:xfrm>
          <a:prstGeom prst="flowChartMagneticDisk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luxograma: Disco magnético 8"/>
          <p:cNvSpPr/>
          <p:nvPr/>
        </p:nvSpPr>
        <p:spPr>
          <a:xfrm>
            <a:off x="5062201" y="1988840"/>
            <a:ext cx="144016" cy="360040"/>
          </a:xfrm>
          <a:prstGeom prst="flowChartMagneticDisk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luxograma: Disco magnético 9"/>
          <p:cNvSpPr/>
          <p:nvPr/>
        </p:nvSpPr>
        <p:spPr>
          <a:xfrm>
            <a:off x="4818832" y="1988840"/>
            <a:ext cx="144016" cy="360040"/>
          </a:xfrm>
          <a:prstGeom prst="flowChartMagneticDisk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luxograma: Disco magnético 10"/>
          <p:cNvSpPr/>
          <p:nvPr/>
        </p:nvSpPr>
        <p:spPr>
          <a:xfrm>
            <a:off x="4588588" y="1988840"/>
            <a:ext cx="144016" cy="360040"/>
          </a:xfrm>
          <a:prstGeom prst="flowChartMagneticDisk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edondar Retângulo em um Canto Diagonal 11"/>
          <p:cNvSpPr/>
          <p:nvPr/>
        </p:nvSpPr>
        <p:spPr>
          <a:xfrm>
            <a:off x="2267744" y="2276872"/>
            <a:ext cx="144016" cy="360040"/>
          </a:xfrm>
          <a:prstGeom prst="round2Diag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edondar Retângulo em um Canto Diagonal 12"/>
          <p:cNvSpPr/>
          <p:nvPr/>
        </p:nvSpPr>
        <p:spPr>
          <a:xfrm>
            <a:off x="2483768" y="2276872"/>
            <a:ext cx="144016" cy="360040"/>
          </a:xfrm>
          <a:prstGeom prst="round2Diag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edondar Retângulo em um Canto Diagonal 13"/>
          <p:cNvSpPr/>
          <p:nvPr/>
        </p:nvSpPr>
        <p:spPr>
          <a:xfrm>
            <a:off x="2699792" y="2276872"/>
            <a:ext cx="144016" cy="360040"/>
          </a:xfrm>
          <a:prstGeom prst="round2Diag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Arredondar Retângulo em um Canto Diagonal 14"/>
          <p:cNvSpPr/>
          <p:nvPr/>
        </p:nvSpPr>
        <p:spPr>
          <a:xfrm>
            <a:off x="2915816" y="2276872"/>
            <a:ext cx="144016" cy="360040"/>
          </a:xfrm>
          <a:prstGeom prst="round2Diag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edondar Retângulo em um Canto Diagonal 15"/>
          <p:cNvSpPr/>
          <p:nvPr/>
        </p:nvSpPr>
        <p:spPr>
          <a:xfrm>
            <a:off x="3131840" y="2276872"/>
            <a:ext cx="144016" cy="360040"/>
          </a:xfrm>
          <a:prstGeom prst="round2Diag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Fluxograma: Dados 16"/>
          <p:cNvSpPr/>
          <p:nvPr/>
        </p:nvSpPr>
        <p:spPr>
          <a:xfrm>
            <a:off x="4139952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Fluxograma: Dados 17"/>
          <p:cNvSpPr/>
          <p:nvPr/>
        </p:nvSpPr>
        <p:spPr>
          <a:xfrm>
            <a:off x="4297823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Fluxograma: Dados 18"/>
          <p:cNvSpPr/>
          <p:nvPr/>
        </p:nvSpPr>
        <p:spPr>
          <a:xfrm>
            <a:off x="4441839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Fluxograma: Dados 19"/>
          <p:cNvSpPr/>
          <p:nvPr/>
        </p:nvSpPr>
        <p:spPr>
          <a:xfrm>
            <a:off x="4765780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Fluxograma: Dados 20"/>
          <p:cNvSpPr/>
          <p:nvPr/>
        </p:nvSpPr>
        <p:spPr>
          <a:xfrm>
            <a:off x="4605176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Fluxograma: Dados 21"/>
          <p:cNvSpPr/>
          <p:nvPr/>
        </p:nvSpPr>
        <p:spPr>
          <a:xfrm>
            <a:off x="4929307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Fluxograma: Dados 22"/>
          <p:cNvSpPr/>
          <p:nvPr/>
        </p:nvSpPr>
        <p:spPr>
          <a:xfrm>
            <a:off x="5073323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Fluxograma: Dados 23"/>
          <p:cNvSpPr/>
          <p:nvPr/>
        </p:nvSpPr>
        <p:spPr>
          <a:xfrm>
            <a:off x="5217339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Fluxograma: Dados 24"/>
          <p:cNvSpPr/>
          <p:nvPr/>
        </p:nvSpPr>
        <p:spPr>
          <a:xfrm>
            <a:off x="5361355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Fluxograma: Dados 25"/>
          <p:cNvSpPr/>
          <p:nvPr/>
        </p:nvSpPr>
        <p:spPr>
          <a:xfrm>
            <a:off x="3970959" y="2883379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spaço Reservado para Conteúdo 2"/>
          <p:cNvSpPr txBox="1">
            <a:spLocks/>
          </p:cNvSpPr>
          <p:nvPr/>
        </p:nvSpPr>
        <p:spPr>
          <a:xfrm>
            <a:off x="3937783" y="2379323"/>
            <a:ext cx="1512168" cy="36004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Twitch</a:t>
            </a:r>
            <a:r>
              <a:rPr kumimoji="0" lang="pt-BR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dos jornais listados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Espaço Reservado para Conteúdo 2"/>
          <p:cNvSpPr txBox="1">
            <a:spLocks/>
          </p:cNvSpPr>
          <p:nvPr/>
        </p:nvSpPr>
        <p:spPr>
          <a:xfrm>
            <a:off x="3995936" y="3212976"/>
            <a:ext cx="1498313" cy="288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Principais Notícias (Geral)</a:t>
            </a: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Seta para a direita 28"/>
          <p:cNvSpPr/>
          <p:nvPr/>
        </p:nvSpPr>
        <p:spPr>
          <a:xfrm>
            <a:off x="3491880" y="2420888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/>
          <p:cNvSpPr/>
          <p:nvPr/>
        </p:nvSpPr>
        <p:spPr>
          <a:xfrm>
            <a:off x="3563888" y="4005064"/>
            <a:ext cx="2232248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i="1" dirty="0" smtClean="0">
                <a:solidFill>
                  <a:schemeClr val="tx1"/>
                </a:solidFill>
              </a:rPr>
              <a:t>Filtro</a:t>
            </a:r>
          </a:p>
        </p:txBody>
      </p:sp>
      <p:sp>
        <p:nvSpPr>
          <p:cNvPr id="31" name="Seta para baixo 30"/>
          <p:cNvSpPr/>
          <p:nvPr/>
        </p:nvSpPr>
        <p:spPr>
          <a:xfrm>
            <a:off x="4572000" y="3642291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Fluxograma: Dados 31"/>
          <p:cNvSpPr/>
          <p:nvPr/>
        </p:nvSpPr>
        <p:spPr>
          <a:xfrm>
            <a:off x="3832599" y="4437112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Fluxograma: Dados 32"/>
          <p:cNvSpPr/>
          <p:nvPr/>
        </p:nvSpPr>
        <p:spPr>
          <a:xfrm>
            <a:off x="4192639" y="4437112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Fluxograma: Dados 33"/>
          <p:cNvSpPr/>
          <p:nvPr/>
        </p:nvSpPr>
        <p:spPr>
          <a:xfrm>
            <a:off x="4552679" y="4437112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Fluxograma: Dados 34"/>
          <p:cNvSpPr/>
          <p:nvPr/>
        </p:nvSpPr>
        <p:spPr>
          <a:xfrm>
            <a:off x="4912719" y="4437112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Fluxograma: Dados 35"/>
          <p:cNvSpPr/>
          <p:nvPr/>
        </p:nvSpPr>
        <p:spPr>
          <a:xfrm>
            <a:off x="5272759" y="4437112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spaço Reservado para Conteúdo 2"/>
          <p:cNvSpPr txBox="1">
            <a:spLocks/>
          </p:cNvSpPr>
          <p:nvPr/>
        </p:nvSpPr>
        <p:spPr>
          <a:xfrm>
            <a:off x="3865775" y="4797152"/>
            <a:ext cx="1786345" cy="2160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lang="pt-BR" sz="1100" noProof="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Notícias Econômicas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3563888" y="5373216"/>
            <a:ext cx="2232248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i="1" dirty="0" smtClean="0">
                <a:solidFill>
                  <a:schemeClr val="tx1"/>
                </a:solidFill>
              </a:rPr>
              <a:t>Classificação</a:t>
            </a:r>
          </a:p>
        </p:txBody>
      </p:sp>
      <p:sp>
        <p:nvSpPr>
          <p:cNvPr id="39" name="Seta para baixo 38"/>
          <p:cNvSpPr/>
          <p:nvPr/>
        </p:nvSpPr>
        <p:spPr>
          <a:xfrm>
            <a:off x="4599710" y="5029764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Fluxograma: Dados 39"/>
          <p:cNvSpPr/>
          <p:nvPr/>
        </p:nvSpPr>
        <p:spPr>
          <a:xfrm>
            <a:off x="3563888" y="5733256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luxograma: Dados 40"/>
          <p:cNvSpPr/>
          <p:nvPr/>
        </p:nvSpPr>
        <p:spPr>
          <a:xfrm>
            <a:off x="4067944" y="5733256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Fluxograma: Dados 41"/>
          <p:cNvSpPr/>
          <p:nvPr/>
        </p:nvSpPr>
        <p:spPr>
          <a:xfrm>
            <a:off x="4572000" y="5733256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Fluxograma: Dados 42"/>
          <p:cNvSpPr/>
          <p:nvPr/>
        </p:nvSpPr>
        <p:spPr>
          <a:xfrm>
            <a:off x="5148064" y="5733256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Fluxograma: Dados 43"/>
          <p:cNvSpPr/>
          <p:nvPr/>
        </p:nvSpPr>
        <p:spPr>
          <a:xfrm>
            <a:off x="5724128" y="5733256"/>
            <a:ext cx="144016" cy="28803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Seta para cima 44"/>
          <p:cNvSpPr/>
          <p:nvPr/>
        </p:nvSpPr>
        <p:spPr>
          <a:xfrm>
            <a:off x="3779912" y="5691691"/>
            <a:ext cx="72008" cy="144016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Seta para baixo 45"/>
          <p:cNvSpPr/>
          <p:nvPr/>
        </p:nvSpPr>
        <p:spPr>
          <a:xfrm>
            <a:off x="3779912" y="5907715"/>
            <a:ext cx="72008" cy="14401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Seta para cima 46"/>
          <p:cNvSpPr/>
          <p:nvPr/>
        </p:nvSpPr>
        <p:spPr>
          <a:xfrm>
            <a:off x="4297823" y="5691691"/>
            <a:ext cx="72008" cy="144016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Seta para baixo 47"/>
          <p:cNvSpPr/>
          <p:nvPr/>
        </p:nvSpPr>
        <p:spPr>
          <a:xfrm>
            <a:off x="4297823" y="5907715"/>
            <a:ext cx="72008" cy="14401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Seta para cima 48"/>
          <p:cNvSpPr/>
          <p:nvPr/>
        </p:nvSpPr>
        <p:spPr>
          <a:xfrm>
            <a:off x="4801879" y="5691691"/>
            <a:ext cx="72008" cy="144016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Seta para baixo 49"/>
          <p:cNvSpPr/>
          <p:nvPr/>
        </p:nvSpPr>
        <p:spPr>
          <a:xfrm>
            <a:off x="4801879" y="5907715"/>
            <a:ext cx="72008" cy="14401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Seta para cima 50"/>
          <p:cNvSpPr/>
          <p:nvPr/>
        </p:nvSpPr>
        <p:spPr>
          <a:xfrm>
            <a:off x="5364088" y="5688958"/>
            <a:ext cx="72008" cy="144016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Seta para baixo 51"/>
          <p:cNvSpPr/>
          <p:nvPr/>
        </p:nvSpPr>
        <p:spPr>
          <a:xfrm>
            <a:off x="5364088" y="5904982"/>
            <a:ext cx="72008" cy="14401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Seta para cima 52"/>
          <p:cNvSpPr/>
          <p:nvPr/>
        </p:nvSpPr>
        <p:spPr>
          <a:xfrm>
            <a:off x="5940152" y="5691691"/>
            <a:ext cx="72008" cy="144016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Seta para baixo 53"/>
          <p:cNvSpPr/>
          <p:nvPr/>
        </p:nvSpPr>
        <p:spPr>
          <a:xfrm>
            <a:off x="5940152" y="5907715"/>
            <a:ext cx="72008" cy="14401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spaço Reservado para Conteúdo 2"/>
          <p:cNvSpPr txBox="1">
            <a:spLocks/>
          </p:cNvSpPr>
          <p:nvPr/>
        </p:nvSpPr>
        <p:spPr>
          <a:xfrm>
            <a:off x="3707904" y="6093296"/>
            <a:ext cx="1786345" cy="2160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Positiva ou Negativa (Popularidade)</a:t>
            </a:r>
          </a:p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endParaRPr lang="pt-B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endParaRPr lang="pt-BR" sz="1100" noProof="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charset="2"/>
              <a:buNone/>
              <a:tabLst/>
              <a:defRPr/>
            </a:pP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436738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Criador de Redes Complexas de informações complexas sobre Países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2182" r="9451"/>
          <a:stretch>
            <a:fillRect/>
          </a:stretch>
        </p:blipFill>
        <p:spPr bwMode="auto">
          <a:xfrm>
            <a:off x="251520" y="2420888"/>
            <a:ext cx="8748464" cy="372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 descr="C:\Users\r\Desktop\01_indicadoresEconomicosMutual.png"/>
          <p:cNvPicPr/>
          <p:nvPr/>
        </p:nvPicPr>
        <p:blipFill>
          <a:blip r:embed="rId2" cstate="print"/>
          <a:srcRect t="7946" b="8214"/>
          <a:stretch>
            <a:fillRect/>
          </a:stretch>
        </p:blipFill>
        <p:spPr bwMode="auto">
          <a:xfrm>
            <a:off x="755576" y="0"/>
            <a:ext cx="777686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 descr="C:\Users\r\Desktop\InterdependenciaComercialEuro12.png"/>
          <p:cNvPicPr/>
          <p:nvPr/>
        </p:nvPicPr>
        <p:blipFill>
          <a:blip r:embed="rId2" cstate="print"/>
          <a:srcRect t="13620" b="12337"/>
          <a:stretch>
            <a:fillRect/>
          </a:stretch>
        </p:blipFill>
        <p:spPr bwMode="auto">
          <a:xfrm>
            <a:off x="971600" y="97902"/>
            <a:ext cx="7488832" cy="6715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644650"/>
          </a:xfrm>
        </p:spPr>
        <p:txBody>
          <a:bodyPr/>
          <a:lstStyle/>
          <a:p>
            <a:r>
              <a:rPr lang="pt-BR" dirty="0" err="1" smtClean="0"/>
              <a:t>SiteScorer</a:t>
            </a:r>
            <a:endParaRPr lang="pt-BR" dirty="0"/>
          </a:p>
        </p:txBody>
      </p:sp>
      <p:pic>
        <p:nvPicPr>
          <p:cNvPr id="4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844824"/>
            <a:ext cx="7488832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16658"/>
          </a:xfrm>
        </p:spPr>
        <p:txBody>
          <a:bodyPr/>
          <a:lstStyle/>
          <a:p>
            <a:r>
              <a:rPr lang="pt-BR" dirty="0" err="1" smtClean="0"/>
              <a:t>AdminSiteScorer</a:t>
            </a:r>
            <a:endParaRPr lang="pt-BR" dirty="0"/>
          </a:p>
        </p:txBody>
      </p:sp>
      <p:pic>
        <p:nvPicPr>
          <p:cNvPr id="4" name="Picture 3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8067" y="1659243"/>
            <a:ext cx="3312368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7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9189" y="4218355"/>
            <a:ext cx="3312368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1628800"/>
            <a:ext cx="3744416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8"/>
          <p:cNvPicPr/>
          <p:nvPr/>
        </p:nvPicPr>
        <p:blipFill>
          <a:blip r:embed="rId2" cstate="print"/>
          <a:srcRect r="632" b="627"/>
          <a:stretch>
            <a:fillRect/>
          </a:stretch>
        </p:blipFill>
        <p:spPr bwMode="auto">
          <a:xfrm>
            <a:off x="4753898" y="1556792"/>
            <a:ext cx="3956685" cy="496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 err="1" smtClean="0"/>
              <a:t>CorpusFactory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5576" y="2407905"/>
            <a:ext cx="3822139" cy="326632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err="1" smtClean="0"/>
              <a:t>Resultados</a:t>
            </a:r>
            <a:r>
              <a:rPr lang="en-US" dirty="0" smtClean="0"/>
              <a:t> do </a:t>
            </a:r>
            <a:r>
              <a:rPr lang="en-US" dirty="0" err="1" smtClean="0"/>
              <a:t>classificador</a:t>
            </a:r>
            <a:r>
              <a:rPr lang="en-US" dirty="0" smtClean="0"/>
              <a:t> de </a:t>
            </a:r>
            <a:r>
              <a:rPr lang="en-US" dirty="0" err="1" smtClean="0"/>
              <a:t>todas</a:t>
            </a:r>
            <a:r>
              <a:rPr lang="en-US" dirty="0" smtClean="0"/>
              <a:t> as </a:t>
            </a:r>
            <a:r>
              <a:rPr lang="en-US" dirty="0" err="1" smtClean="0"/>
              <a:t>categorias</a:t>
            </a:r>
            <a:r>
              <a:rPr lang="en-US" dirty="0" smtClean="0"/>
              <a:t> das </a:t>
            </a:r>
            <a:r>
              <a:rPr lang="en-US" dirty="0" err="1" smtClean="0"/>
              <a:t>noticias</a:t>
            </a:r>
            <a:r>
              <a:rPr lang="en-US" dirty="0" smtClean="0"/>
              <a:t>: </a:t>
            </a:r>
          </a:p>
          <a:p>
            <a:pPr lvl="1" algn="just"/>
            <a:r>
              <a:rPr lang="en-US" dirty="0" err="1" smtClean="0"/>
              <a:t>Acuracia</a:t>
            </a:r>
            <a:r>
              <a:rPr lang="en-US" dirty="0" smtClean="0"/>
              <a:t> Final = 0.87%</a:t>
            </a:r>
          </a:p>
          <a:p>
            <a:pPr lvl="1" algn="just"/>
            <a:r>
              <a:rPr lang="en-US" dirty="0" smtClean="0"/>
              <a:t>Total de </a:t>
            </a:r>
            <a:r>
              <a:rPr lang="en-US" dirty="0" err="1" smtClean="0"/>
              <a:t>noticias</a:t>
            </a:r>
            <a:r>
              <a:rPr lang="en-US" dirty="0" smtClean="0"/>
              <a:t> </a:t>
            </a:r>
            <a:r>
              <a:rPr lang="en-US" dirty="0" err="1" smtClean="0"/>
              <a:t>contadas</a:t>
            </a:r>
            <a:r>
              <a:rPr lang="en-US" dirty="0" smtClean="0"/>
              <a:t> = 17991 </a:t>
            </a:r>
            <a:endParaRPr lang="en-US" dirty="0"/>
          </a:p>
          <a:p>
            <a:pPr lvl="1" algn="just"/>
            <a:r>
              <a:rPr lang="en-US" dirty="0"/>
              <a:t>Total </a:t>
            </a:r>
            <a:r>
              <a:rPr lang="en-US" dirty="0" smtClean="0"/>
              <a:t>de </a:t>
            </a:r>
            <a:r>
              <a:rPr lang="en-US" dirty="0" err="1" smtClean="0"/>
              <a:t>noticias</a:t>
            </a:r>
            <a:r>
              <a:rPr lang="en-US" dirty="0" smtClean="0"/>
              <a:t> </a:t>
            </a:r>
            <a:r>
              <a:rPr lang="en-US" dirty="0" err="1" smtClean="0"/>
              <a:t>classificadas</a:t>
            </a:r>
            <a:r>
              <a:rPr lang="en-US" dirty="0" smtClean="0"/>
              <a:t> </a:t>
            </a:r>
            <a:r>
              <a:rPr lang="en-US" dirty="0" err="1" smtClean="0"/>
              <a:t>corretamente</a:t>
            </a:r>
            <a:r>
              <a:rPr lang="en-US" dirty="0" smtClean="0"/>
              <a:t> = 15574 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Resultado do classificador binário de noticias econômicas:</a:t>
            </a:r>
          </a:p>
          <a:p>
            <a:pPr lvl="1" algn="just"/>
            <a:r>
              <a:rPr lang="en-US" dirty="0" err="1" smtClean="0"/>
              <a:t>Acuracia</a:t>
            </a:r>
            <a:r>
              <a:rPr lang="en-US" dirty="0" smtClean="0"/>
              <a:t> Final = 0.99% </a:t>
            </a:r>
            <a:endParaRPr lang="en-US" dirty="0"/>
          </a:p>
          <a:p>
            <a:pPr lvl="1" algn="just"/>
            <a:r>
              <a:rPr lang="en-US" dirty="0" smtClean="0"/>
              <a:t>Total </a:t>
            </a:r>
            <a:r>
              <a:rPr lang="en-US" dirty="0" err="1" smtClean="0"/>
              <a:t>noticias</a:t>
            </a:r>
            <a:r>
              <a:rPr lang="en-US" dirty="0" smtClean="0"/>
              <a:t> </a:t>
            </a:r>
            <a:r>
              <a:rPr lang="en-US" dirty="0" err="1" smtClean="0"/>
              <a:t>contadas</a:t>
            </a:r>
            <a:r>
              <a:rPr lang="en-US" dirty="0" smtClean="0"/>
              <a:t> = 27001</a:t>
            </a:r>
            <a:endParaRPr lang="en-US" dirty="0"/>
          </a:p>
          <a:p>
            <a:pPr lvl="1" algn="just"/>
            <a:r>
              <a:rPr lang="en-US" dirty="0"/>
              <a:t>Total de </a:t>
            </a:r>
            <a:r>
              <a:rPr lang="en-US" dirty="0" err="1"/>
              <a:t>noticias</a:t>
            </a:r>
            <a:r>
              <a:rPr lang="en-US" dirty="0"/>
              <a:t> </a:t>
            </a:r>
            <a:r>
              <a:rPr lang="en-US" dirty="0" err="1"/>
              <a:t>classificadas</a:t>
            </a:r>
            <a:r>
              <a:rPr lang="en-US" dirty="0"/>
              <a:t> </a:t>
            </a:r>
            <a:r>
              <a:rPr lang="en-US" dirty="0" err="1" smtClean="0"/>
              <a:t>corretamente</a:t>
            </a:r>
            <a:r>
              <a:rPr lang="en-US" dirty="0" smtClean="0"/>
              <a:t> = 26769 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6"/>
          <p:cNvPicPr/>
          <p:nvPr/>
        </p:nvPicPr>
        <p:blipFill>
          <a:blip r:embed="rId2" cstate="print"/>
          <a:srcRect b="1708"/>
          <a:stretch>
            <a:fillRect/>
          </a:stretch>
        </p:blipFill>
        <p:spPr bwMode="auto">
          <a:xfrm>
            <a:off x="4717976" y="1772816"/>
            <a:ext cx="3816424" cy="4175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 err="1" smtClean="0"/>
              <a:t>FireTwitter</a:t>
            </a:r>
            <a:endParaRPr lang="pt-BR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899592" y="2492896"/>
            <a:ext cx="3602360" cy="1601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 smtClean="0"/>
              <a:t>Como experimentação foi criado um programa que baixa noticias dos sites através dos links em seus </a:t>
            </a:r>
            <a:r>
              <a:rPr lang="pt-BR" dirty="0" err="1" smtClean="0"/>
              <a:t>tweets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2853534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16658"/>
          </a:xfrm>
        </p:spPr>
        <p:txBody>
          <a:bodyPr/>
          <a:lstStyle/>
          <a:p>
            <a:r>
              <a:rPr lang="pt-BR" dirty="0" err="1" smtClean="0"/>
              <a:t>SubjectiveAnalyser</a:t>
            </a:r>
            <a:endParaRPr lang="pt-BR" dirty="0"/>
          </a:p>
        </p:txBody>
      </p:sp>
      <p:pic>
        <p:nvPicPr>
          <p:cNvPr id="4" name="Picture 30" descr="C:\Users\r\Documents\0000_planejando apresentação\img1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700808"/>
            <a:ext cx="6837611" cy="4763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SubjectiveAnalyser</a:t>
            </a:r>
            <a:endParaRPr lang="pt-BR" dirty="0"/>
          </a:p>
        </p:txBody>
      </p:sp>
      <p:pic>
        <p:nvPicPr>
          <p:cNvPr id="6" name="Picture 3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00808"/>
            <a:ext cx="7092508" cy="4693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88666"/>
          </a:xfrm>
        </p:spPr>
        <p:txBody>
          <a:bodyPr/>
          <a:lstStyle/>
          <a:p>
            <a:r>
              <a:rPr lang="pt-BR" dirty="0" err="1" smtClean="0"/>
              <a:t>SubjectiveAnalyser</a:t>
            </a:r>
            <a:endParaRPr lang="pt-BR" dirty="0"/>
          </a:p>
        </p:txBody>
      </p:sp>
      <p:pic>
        <p:nvPicPr>
          <p:cNvPr id="4" name="Picture 3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484784"/>
            <a:ext cx="7128792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60674"/>
          </a:xfrm>
        </p:spPr>
        <p:txBody>
          <a:bodyPr/>
          <a:lstStyle/>
          <a:p>
            <a:r>
              <a:rPr lang="pt-BR" dirty="0" err="1" smtClean="0"/>
              <a:t>SubjectiveAnalyser</a:t>
            </a:r>
            <a:endParaRPr lang="pt-BR" dirty="0"/>
          </a:p>
        </p:txBody>
      </p:sp>
      <p:pic>
        <p:nvPicPr>
          <p:cNvPr id="4" name="Picture 3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556792"/>
            <a:ext cx="7308532" cy="488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88666"/>
          </a:xfrm>
        </p:spPr>
        <p:txBody>
          <a:bodyPr/>
          <a:lstStyle/>
          <a:p>
            <a:r>
              <a:rPr lang="pt-BR" dirty="0" err="1" smtClean="0"/>
              <a:t>SubjectiveAnalyser</a:t>
            </a:r>
            <a:endParaRPr lang="pt-BR" dirty="0"/>
          </a:p>
        </p:txBody>
      </p:sp>
      <p:pic>
        <p:nvPicPr>
          <p:cNvPr id="4" name="Picture 40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628800"/>
            <a:ext cx="7632848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88666"/>
          </a:xfrm>
        </p:spPr>
        <p:txBody>
          <a:bodyPr/>
          <a:lstStyle/>
          <a:p>
            <a:r>
              <a:rPr lang="pt-BR" dirty="0" err="1" smtClean="0"/>
              <a:t>SubjectiveAnalyser</a:t>
            </a:r>
            <a:endParaRPr lang="pt-BR" dirty="0"/>
          </a:p>
        </p:txBody>
      </p:sp>
      <p:pic>
        <p:nvPicPr>
          <p:cNvPr id="4" name="Picture 4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628800"/>
            <a:ext cx="7236524" cy="4900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88666"/>
          </a:xfrm>
        </p:spPr>
        <p:txBody>
          <a:bodyPr/>
          <a:lstStyle/>
          <a:p>
            <a:r>
              <a:rPr lang="pt-BR" dirty="0" err="1" smtClean="0"/>
              <a:t>SubjectiveAnalyser</a:t>
            </a:r>
            <a:endParaRPr lang="pt-BR" dirty="0"/>
          </a:p>
        </p:txBody>
      </p:sp>
      <p:pic>
        <p:nvPicPr>
          <p:cNvPr id="4" name="Picture 4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556792"/>
            <a:ext cx="7056784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 smtClean="0"/>
              <a:t>Referencias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42415" y="1556792"/>
            <a:ext cx="6591985" cy="4824536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pt-BR" dirty="0"/>
              <a:t>LENT, Robert. </a:t>
            </a:r>
            <a:r>
              <a:rPr lang="pt-BR" b="1" dirty="0"/>
              <a:t>Cem Bilhões de Neurônios</a:t>
            </a:r>
            <a:r>
              <a:rPr lang="pt-BR" dirty="0"/>
              <a:t>. São Paulo: 2 ed. Atheneu, 2002.</a:t>
            </a:r>
          </a:p>
          <a:p>
            <a:pPr lvl="0" algn="just"/>
            <a:r>
              <a:rPr lang="en-US" dirty="0"/>
              <a:t>RUSSEL, Peter; NORVIG, Peter. </a:t>
            </a:r>
            <a:r>
              <a:rPr lang="en-US" b="1" dirty="0"/>
              <a:t>Artificial Intelligence: A Modern Approach</a:t>
            </a:r>
            <a:r>
              <a:rPr lang="en-US" dirty="0"/>
              <a:t>. Upper Saddle River, New Jersey: 2. ed. Pearson Education, Inc., 2003.</a:t>
            </a:r>
            <a:endParaRPr lang="pt-BR" dirty="0"/>
          </a:p>
          <a:p>
            <a:pPr lvl="0" algn="just"/>
            <a:r>
              <a:rPr lang="en-US" dirty="0"/>
              <a:t>COPPIN, Ben. </a:t>
            </a:r>
            <a:r>
              <a:rPr lang="en-US" b="1" dirty="0"/>
              <a:t>Artificial Intelligence Illuminated</a:t>
            </a:r>
            <a:r>
              <a:rPr lang="en-US" dirty="0"/>
              <a:t>. Sudbury, Massachusetts: ed. Jones and Bartlett Publishers, 2004.</a:t>
            </a:r>
            <a:endParaRPr lang="pt-BR" dirty="0"/>
          </a:p>
          <a:p>
            <a:pPr lvl="0" algn="just"/>
            <a:r>
              <a:rPr lang="pt-BR" dirty="0"/>
              <a:t>FREUD, Sigmund Freud. </a:t>
            </a:r>
            <a:r>
              <a:rPr lang="pt-BR" b="1" dirty="0"/>
              <a:t>Psicologia das Massas e Analise do Eu. </a:t>
            </a:r>
            <a:r>
              <a:rPr lang="pt-BR" dirty="0"/>
              <a:t>Porto </a:t>
            </a:r>
            <a:r>
              <a:rPr lang="pt-BR" dirty="0" err="1"/>
              <a:t>Alegre:L&amp;PM</a:t>
            </a:r>
            <a:r>
              <a:rPr lang="pt-BR" dirty="0"/>
              <a:t> Editores, 2013.</a:t>
            </a:r>
          </a:p>
          <a:p>
            <a:pPr lvl="0" algn="just"/>
            <a:r>
              <a:rPr lang="pt-BR" dirty="0"/>
              <a:t>VASCONCELLOS, Marco </a:t>
            </a:r>
            <a:r>
              <a:rPr lang="pt-BR" dirty="0" err="1"/>
              <a:t>Antonio</a:t>
            </a:r>
            <a:r>
              <a:rPr lang="pt-BR" dirty="0"/>
              <a:t> </a:t>
            </a:r>
            <a:r>
              <a:rPr lang="pt-BR" dirty="0" err="1"/>
              <a:t>Santoval</a:t>
            </a:r>
            <a:r>
              <a:rPr lang="pt-BR" dirty="0"/>
              <a:t> de.; GARCIA, Manoel </a:t>
            </a:r>
            <a:r>
              <a:rPr lang="pt-BR" dirty="0" err="1"/>
              <a:t>Enriquez</a:t>
            </a:r>
            <a:r>
              <a:rPr lang="pt-BR" dirty="0"/>
              <a:t>. </a:t>
            </a:r>
            <a:r>
              <a:rPr lang="pt-BR" b="1" dirty="0"/>
              <a:t>Fundamentos de Economia</a:t>
            </a:r>
            <a:r>
              <a:rPr lang="pt-BR" dirty="0"/>
              <a:t>. Guarulhos, São Paulo: 4 ed. Saraiva, 2012.</a:t>
            </a:r>
          </a:p>
          <a:p>
            <a:pPr lvl="0" algn="just"/>
            <a:r>
              <a:rPr lang="pt-BR" smtClean="0"/>
              <a:t>NISKIER</a:t>
            </a:r>
            <a:r>
              <a:rPr lang="pt-BR" dirty="0"/>
              <a:t>, Celso. </a:t>
            </a:r>
            <a:r>
              <a:rPr lang="pt-BR" b="1" dirty="0"/>
              <a:t>Redes Epistêmicas </a:t>
            </a:r>
            <a:r>
              <a:rPr lang="pt-BR" b="1" dirty="0" err="1"/>
              <a:t>Auto-Organizáveis</a:t>
            </a:r>
            <a:r>
              <a:rPr lang="pt-BR" b="1" dirty="0"/>
              <a:t>: Um Modelo Conexionista para a Aprendizagem em Redes Sociais. </a:t>
            </a:r>
            <a:r>
              <a:rPr lang="pt-BR" dirty="0"/>
              <a:t>Rio de Janeiro, RJ: Tese de Doutorado apresentada ao Programa de Pós-graduação em Engenharia de Sistemas e Computação COPPE,2010.</a:t>
            </a:r>
          </a:p>
          <a:p>
            <a:pPr algn="just"/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1017</TotalTime>
  <Words>486</Words>
  <Application>Microsoft Office PowerPoint</Application>
  <PresentationFormat>On-screen Show (4:3)</PresentationFormat>
  <Paragraphs>87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Cacho</vt:lpstr>
      <vt:lpstr>Centro Universitário Carioca</vt:lpstr>
      <vt:lpstr>Introdução</vt:lpstr>
      <vt:lpstr>Introdução</vt:lpstr>
      <vt:lpstr>Revisão de literatura</vt:lpstr>
      <vt:lpstr>Revisão de literatura</vt:lpstr>
      <vt:lpstr>Revisão de literatura</vt:lpstr>
      <vt:lpstr>Metodologia</vt:lpstr>
      <vt:lpstr>Metodologia</vt:lpstr>
      <vt:lpstr>Criador de Redes Complexas de informações complexas sobre Países</vt:lpstr>
      <vt:lpstr>Slide 10</vt:lpstr>
      <vt:lpstr>Slide 11</vt:lpstr>
      <vt:lpstr>SiteScorer</vt:lpstr>
      <vt:lpstr>AdminSiteScorer</vt:lpstr>
      <vt:lpstr>CorpusFactory</vt:lpstr>
      <vt:lpstr>FireTwitter</vt:lpstr>
      <vt:lpstr>SubjectiveAnalyser</vt:lpstr>
      <vt:lpstr>SubjectiveAnalyser</vt:lpstr>
      <vt:lpstr>SubjectiveAnalyser</vt:lpstr>
      <vt:lpstr>SubjectiveAnalyser</vt:lpstr>
      <vt:lpstr>SubjectiveAnalyser</vt:lpstr>
      <vt:lpstr>SubjectiveAnalyser</vt:lpstr>
      <vt:lpstr>SubjectiveAnalyser</vt:lpstr>
      <vt:lpstr>Referencias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Mineração de notícias econômicas</dc:title>
  <dc:creator>Tavares</dc:creator>
  <cp:lastModifiedBy>r</cp:lastModifiedBy>
  <cp:revision>72</cp:revision>
  <dcterms:created xsi:type="dcterms:W3CDTF">2014-05-27T17:26:06Z</dcterms:created>
  <dcterms:modified xsi:type="dcterms:W3CDTF">2014-06-13T19:28:50Z</dcterms:modified>
</cp:coreProperties>
</file>